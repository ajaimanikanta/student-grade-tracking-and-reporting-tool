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912" r:id="rId2"/>
  </p:sldMasterIdLst>
  <p:notesMasterIdLst>
    <p:notesMasterId r:id="rId19"/>
  </p:notesMasterIdLst>
  <p:handoutMasterIdLst>
    <p:handoutMasterId r:id="rId20"/>
  </p:handoutMasterIdLst>
  <p:sldIdLst>
    <p:sldId id="261" r:id="rId3"/>
    <p:sldId id="314" r:id="rId4"/>
    <p:sldId id="322" r:id="rId5"/>
    <p:sldId id="323" r:id="rId6"/>
    <p:sldId id="266" r:id="rId7"/>
    <p:sldId id="341" r:id="rId8"/>
    <p:sldId id="349" r:id="rId9"/>
    <p:sldId id="342" r:id="rId10"/>
    <p:sldId id="343" r:id="rId11"/>
    <p:sldId id="344" r:id="rId12"/>
    <p:sldId id="345" r:id="rId13"/>
    <p:sldId id="346" r:id="rId14"/>
    <p:sldId id="340" r:id="rId15"/>
    <p:sldId id="347" r:id="rId16"/>
    <p:sldId id="348" r:id="rId17"/>
    <p:sldId id="33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p:scale>
          <a:sx n="75" d="100"/>
          <a:sy n="75" d="100"/>
        </p:scale>
        <p:origin x="148" y="16"/>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BF734CB-DFAB-944A-8037-9643745D8F20}" type="datetime1">
              <a:rPr lang="en-IN" smtClean="0"/>
              <a:t>09-03-2026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2393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7" name="Rectangle 6">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8795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72911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p:cNvSpPr>
            <a:spLocks noGrp="1"/>
          </p:cNvSpPr>
          <p:nvPr>
            <p:ph type="ftr" sz="quarter" idx="11"/>
          </p:nvPr>
        </p:nvSpPr>
        <p:spPr/>
        <p:txBody>
          <a:bodyPr/>
          <a:lstStyle/>
          <a:p>
            <a:r>
              <a:rPr lang="en-US" smtClean="0"/>
              <a:t>0th REVIEW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32590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p:cNvSpPr>
            <a:spLocks noGrp="1"/>
          </p:cNvSpPr>
          <p:nvPr>
            <p:ph type="ftr" sz="quarter" idx="11"/>
          </p:nvPr>
        </p:nvSpPr>
        <p:spPr/>
        <p:txBody>
          <a:bodyPr/>
          <a:lstStyle/>
          <a:p>
            <a:r>
              <a:rPr lang="en-US" smtClean="0"/>
              <a:t>0th REVIEW         173030211           Department of CSE</a:t>
            </a:r>
            <a:endParaRPr lang="en-US"/>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323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p:cNvSpPr>
            <a:spLocks noGrp="1"/>
          </p:cNvSpPr>
          <p:nvPr>
            <p:ph type="ftr" sz="quarter" idx="11"/>
          </p:nvPr>
        </p:nvSpPr>
        <p:spPr/>
        <p:txBody>
          <a:bodyPr/>
          <a:lstStyle/>
          <a:p>
            <a:r>
              <a:rPr lang="en-US" smtClean="0"/>
              <a:t>0th REVIEW         173030211           Department of CSE</a:t>
            </a:r>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614434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p:cNvSpPr>
            <a:spLocks noGrp="1"/>
          </p:cNvSpPr>
          <p:nvPr>
            <p:ph type="ftr" sz="quarter" idx="11"/>
          </p:nvPr>
        </p:nvSpPr>
        <p:spPr/>
        <p:txBody>
          <a:bodyPr/>
          <a:lstStyle/>
          <a:p>
            <a:r>
              <a:rPr lang="en-US" smtClean="0"/>
              <a:t>0th REVIEW         173030211           Department of CSE</a:t>
            </a:r>
            <a:endParaRPr lang="en-US"/>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025762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p:cNvSpPr>
            <a:spLocks noGrp="1"/>
          </p:cNvSpPr>
          <p:nvPr>
            <p:ph type="ftr" sz="quarter" idx="11"/>
          </p:nvPr>
        </p:nvSpPr>
        <p:spPr/>
        <p:txBody>
          <a:bodyPr/>
          <a:lstStyle/>
          <a:p>
            <a:r>
              <a:rPr lang="en-US" smtClean="0"/>
              <a:t>0th REVIEW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764659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p:cNvSpPr>
            <a:spLocks noGrp="1"/>
          </p:cNvSpPr>
          <p:nvPr>
            <p:ph type="ftr" sz="quarter" idx="11"/>
          </p:nvPr>
        </p:nvSpPr>
        <p:spPr/>
        <p:txBody>
          <a:bodyPr/>
          <a:lstStyle/>
          <a:p>
            <a:r>
              <a:rPr lang="en-US" smtClean="0"/>
              <a:t>0th REVIEW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4548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6090101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97499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29F4C6E9-161C-B44B-AD70-8813DADCDED1}" type="datetime1">
              <a:rPr lang="en-IN" smtClean="0"/>
              <a:t>09-03-2026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smtClean="0"/>
              <a:t>0th REVIEW         173030211           Department of CSE</a:t>
            </a:r>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6396F81-1074-6B40-A92F-A06CCD3B4178}"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6108534"/>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651" r:id="rId12"/>
  </p:sldLayoutIdLst>
  <p:hf hdr="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a:bodyPr>
          <a:lstStyle/>
          <a:p>
            <a:r>
              <a:rPr lang="en-IN"/>
              <a:t>Use </a:t>
            </a:r>
            <a:r>
              <a:rPr lang="en-IN" dirty="0"/>
              <a:t>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648386" y="210953"/>
            <a:ext cx="11543614" cy="1128381"/>
          </a:xfrm>
        </p:spPr>
        <p:txBody>
          <a:bodyPr>
            <a:noAutofit/>
          </a:bodyPr>
          <a:lstStyle/>
          <a:p>
            <a:pPr algn="ctr">
              <a:lnSpc>
                <a:spcPct val="100000"/>
              </a:lnSpc>
            </a:pPr>
            <a:r>
              <a:rPr lang="en-US" sz="3600" b="1" dirty="0">
                <a:solidFill>
                  <a:srgbClr val="0070C0"/>
                </a:solidFill>
                <a:latin typeface="+mn-lt"/>
                <a:cs typeface="Arial" panose="020B0604020202020204" pitchFamily="34" charset="0"/>
              </a:rPr>
              <a:t>Title: </a:t>
            </a:r>
            <a:r>
              <a:rPr lang="en-US" sz="3600" b="1" dirty="0"/>
              <a:t>Student Grade Tracking and Reporting Tool</a:t>
            </a:r>
            <a:endParaRPr lang="en-US" sz="3600" b="1"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1180135" y="1150130"/>
            <a:ext cx="10515600" cy="1097555"/>
          </a:xfrm>
        </p:spPr>
        <p:txBody>
          <a:bodyPr>
            <a:normAutofit fontScale="25000" lnSpcReduction="20000"/>
          </a:bodyPr>
          <a:lstStyle/>
          <a:p>
            <a:pPr marL="0" indent="0" algn="ctr">
              <a:buNone/>
            </a:pPr>
            <a:r>
              <a:rPr lang="en-US" sz="9600" dirty="0"/>
              <a:t>Student Name: </a:t>
            </a:r>
            <a:r>
              <a:rPr lang="en-US" sz="9600" dirty="0" smtClean="0"/>
              <a:t>AJAI MANIKANTA</a:t>
            </a:r>
            <a:endParaRPr lang="en-US" sz="9600" dirty="0"/>
          </a:p>
          <a:p>
            <a:pPr marL="0" indent="0" algn="ctr">
              <a:buNone/>
            </a:pPr>
            <a:r>
              <a:rPr lang="en-US" sz="9600" dirty="0"/>
              <a:t>Student ID: </a:t>
            </a:r>
            <a:r>
              <a:rPr lang="en-US" sz="9600" dirty="0" smtClean="0"/>
              <a:t>2520030320</a:t>
            </a:r>
            <a:endParaRPr lang="en-US" sz="2400" dirty="0"/>
          </a:p>
          <a:p>
            <a:pPr marL="0" indent="0" algn="ctr">
              <a:buNone/>
            </a:pPr>
            <a:r>
              <a:rPr lang="en-US" sz="11200" dirty="0" smtClean="0"/>
              <a:t>Cluster: 1</a:t>
            </a:r>
            <a:endParaRPr lang="en-US" sz="11200" dirty="0"/>
          </a:p>
          <a:p>
            <a:pPr marL="0" indent="0" algn="ctr">
              <a:buNone/>
            </a:pPr>
            <a:r>
              <a:rPr lang="en-US" sz="11200" dirty="0"/>
              <a:t>Section: 3</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575079" y="5222075"/>
            <a:ext cx="1725712" cy="930978"/>
          </a:xfrm>
          <a:prstGeom prst="rect">
            <a:avLst/>
          </a:prstGeom>
          <a:scene3d>
            <a:camera prst="orthographicFront"/>
            <a:lightRig rig="threePt" dir="t"/>
          </a:scene3d>
          <a:sp3d>
            <a:bevelT prst="relaxedInset"/>
            <a:bevelB w="152400" h="50800" prst="softRound"/>
          </a:sp3d>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US" sz="8600" dirty="0" smtClean="0">
                <a:solidFill>
                  <a:srgbClr val="00B050"/>
                </a:solidFill>
              </a:rPr>
              <a:t>SUREKHA MAM</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Tree>
    <p:extLst>
      <p:ext uri="{BB962C8B-B14F-4D97-AF65-F5344CB8AC3E}">
        <p14:creationId xmlns:p14="http://schemas.microsoft.com/office/powerpoint/2010/main" val="10170163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40000" lnSpcReduction="20000"/>
          </a:bodyPr>
          <a:lstStyle/>
          <a:p>
            <a:pPr marL="514350" indent="-514350">
              <a:buFont typeface="+mj-lt"/>
              <a:buAutoNum type="arabicPeriod"/>
            </a:pPr>
            <a:r>
              <a:rPr lang="en-IN" sz="3600" dirty="0"/>
              <a:t>Abstract</a:t>
            </a:r>
          </a:p>
          <a:p>
            <a:pPr marL="514350" indent="-514350">
              <a:buFont typeface="+mj-lt"/>
              <a:buAutoNum type="arabicPeriod"/>
            </a:pPr>
            <a:r>
              <a:rPr lang="en-IN" sz="3600" dirty="0"/>
              <a:t>Existing System </a:t>
            </a:r>
          </a:p>
          <a:p>
            <a:pPr marL="514350" indent="-514350">
              <a:buFont typeface="+mj-lt"/>
              <a:buAutoNum type="arabicPeriod"/>
            </a:pPr>
            <a:r>
              <a:rPr lang="en-IN" sz="3600" dirty="0"/>
              <a:t>Proposed System</a:t>
            </a:r>
          </a:p>
          <a:p>
            <a:pPr marL="514350" indent="-514350">
              <a:buFont typeface="+mj-lt"/>
              <a:buAutoNum type="arabicPeriod"/>
            </a:pPr>
            <a:r>
              <a:rPr lang="en-IN" sz="3600" dirty="0"/>
              <a:t>System Architecture</a:t>
            </a:r>
          </a:p>
          <a:p>
            <a:pPr marL="514350" indent="-514350">
              <a:buFont typeface="+mj-lt"/>
              <a:buAutoNum type="arabicPeriod"/>
            </a:pPr>
            <a:r>
              <a:rPr lang="en-IN" sz="3600" dirty="0"/>
              <a:t>Project Modules</a:t>
            </a:r>
          </a:p>
          <a:p>
            <a:pPr marL="514350" indent="-514350">
              <a:buFont typeface="+mj-lt"/>
              <a:buAutoNum type="arabicPeriod"/>
            </a:pPr>
            <a:r>
              <a:rPr lang="en-IN" sz="3600" dirty="0"/>
              <a:t>Objectives </a:t>
            </a:r>
          </a:p>
          <a:p>
            <a:pPr marL="514350" indent="-514350">
              <a:buFont typeface="+mj-lt"/>
              <a:buAutoNum type="arabicPeriod"/>
            </a:pPr>
            <a:r>
              <a:rPr lang="en-IN" sz="3600" dirty="0"/>
              <a:t>Co’s Attainments - FWD</a:t>
            </a:r>
          </a:p>
          <a:p>
            <a:pPr marL="971550" lvl="1" indent="-514350">
              <a:buFont typeface="+mj-lt"/>
              <a:buAutoNum type="arabicPeriod"/>
            </a:pPr>
            <a:r>
              <a:rPr lang="en-IN" sz="3600" dirty="0"/>
              <a:t>Co1</a:t>
            </a:r>
          </a:p>
          <a:p>
            <a:pPr marL="971550" lvl="1" indent="-514350">
              <a:buFont typeface="+mj-lt"/>
              <a:buAutoNum type="arabicPeriod"/>
            </a:pPr>
            <a:r>
              <a:rPr lang="en-IN" sz="3600" dirty="0"/>
              <a:t>Co2 …….. 5. Co5</a:t>
            </a:r>
          </a:p>
          <a:p>
            <a:pPr marL="514350" indent="-514350">
              <a:buFont typeface="+mj-lt"/>
              <a:buAutoNum type="arabicPeriod"/>
            </a:pPr>
            <a:r>
              <a:rPr lang="en-IN" sz="3600" dirty="0"/>
              <a:t>Co’s Attainments - DSA</a:t>
            </a:r>
          </a:p>
          <a:p>
            <a:pPr marL="971550" lvl="1" indent="-514350">
              <a:buFont typeface="+mj-lt"/>
              <a:buAutoNum type="arabicPeriod"/>
            </a:pPr>
            <a:r>
              <a:rPr lang="en-IN" sz="3600" dirty="0"/>
              <a:t>Co1</a:t>
            </a:r>
          </a:p>
          <a:p>
            <a:pPr marL="971550" lvl="1" indent="-514350">
              <a:buFont typeface="+mj-lt"/>
              <a:buAutoNum type="arabicPeriod"/>
            </a:pPr>
            <a:r>
              <a:rPr lang="en-IN" sz="3600" dirty="0"/>
              <a:t>Co2 …….. 5. Co5</a:t>
            </a:r>
          </a:p>
          <a:p>
            <a:pPr marL="514350" indent="-514350">
              <a:buFont typeface="+mj-lt"/>
              <a:buAutoNum type="arabicPeriod"/>
            </a:pPr>
            <a:r>
              <a:rPr lang="en-IN" sz="3600" dirty="0"/>
              <a:t>Screen Shots for FWD &amp; DSA</a:t>
            </a:r>
          </a:p>
          <a:p>
            <a:pPr marL="514350" indent="-514350">
              <a:buFont typeface="+mj-lt"/>
              <a:buAutoNum type="arabicPeriod"/>
            </a:pPr>
            <a:r>
              <a:rPr lang="en-IN" sz="3600" dirty="0"/>
              <a:t>Conclusion</a:t>
            </a:r>
          </a:p>
          <a:p>
            <a:pPr marL="514350" indent="-514350">
              <a:buFont typeface="+mj-lt"/>
              <a:buAutoNum type="arabicPeriod"/>
            </a:pPr>
            <a:r>
              <a:rPr lang="en-IN" sz="3600"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92500" lnSpcReduction="10000"/>
          </a:bodyPr>
          <a:lstStyle/>
          <a:p>
            <a:r>
              <a:rPr lang="en-US" sz="2000" b="1" dirty="0"/>
              <a:t>The Student Grade Tracking and Reporting Tool makes a lot easier for anyone managing student grades. Built in Java as part of a programming course, it uses object-oriented ideas—think classes, inheritance, and polymorphism—to handle everything from adding students to recording grades for different subjects. It calculates averages and puts together performance reports too. Forget the usual headaches of manual grade tracking, like messed-up data or slow reports. This tool fixes those with an easy-to-use console or a simple interface built with Swing or JavaFX. All your data sticks around a lightweight database like SQLite.</a:t>
            </a:r>
            <a:endParaRPr lang="en-IN" sz="2000" b="1" dirty="0"/>
          </a:p>
          <a:p>
            <a:r>
              <a:rPr lang="en-US" sz="2000" b="1" dirty="0"/>
              <a:t>This project focuses on solid error handling, a modular setup, and plenty of room to scale up. Teachers can check on student progress, spot students who need extra help with threshold alerts, and pull reports in CSV or PDF using tools like </a:t>
            </a:r>
            <a:r>
              <a:rPr lang="en-US" sz="2000" b="1" dirty="0" err="1"/>
              <a:t>iText</a:t>
            </a:r>
            <a:r>
              <a:rPr lang="en-US" sz="2000" b="1" dirty="0"/>
              <a:t>. It comes with built-in authentication for admins and teachers, plus sorting, filtering, and charts powered by Java’s own tools. The app really shows off key Java skills—working with collections, catching exceptions, and using multithreading for batch tasks. More importantly, it actually helps teachers manage real classroom challenges, making it easier to evaluate students and make smart decisions.</a:t>
            </a:r>
            <a:endParaRPr lang="en-IN" sz="2000" b="1"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024318" y="1493134"/>
            <a:ext cx="9720073" cy="4023360"/>
          </a:xfrm>
        </p:spPr>
        <p:txBody>
          <a:bodyPr>
            <a:normAutofit fontScale="92500" lnSpcReduction="10000"/>
          </a:bodyPr>
          <a:lstStyle/>
          <a:p>
            <a:pPr marL="457200" lvl="1" indent="-339725" algn="just"/>
            <a:r>
              <a:rPr lang="en-US" dirty="0"/>
              <a:t>1. Current Conditions (The Issue) Record Keeping: The use of registers to record grades is still a standard business practice. Therefore, manual record keeping causes many problems with regard to data redundancy and the ability to retrieve information quickly. Data Isolation: There is no way for students to access their grades in real-time since most grades are recorded on a local, offline spreadsheet (Excel). Lack of Analytics: The manual process to calculate average grades in a class, pass/fail rates, and identify students who need help identifying "at-risk" students will take longer than using a software program. </a:t>
            </a:r>
            <a:endParaRPr lang="en-US" dirty="0" smtClean="0"/>
          </a:p>
          <a:p>
            <a:pPr marL="457200" lvl="1" indent="-339725" algn="just"/>
            <a:r>
              <a:rPr lang="en-US" dirty="0" smtClean="0"/>
              <a:t>2</a:t>
            </a:r>
            <a:r>
              <a:rPr lang="en-US" dirty="0"/>
              <a:t>. Current Technical Solutions (</a:t>
            </a:r>
            <a:r>
              <a:rPr lang="en-US" dirty="0" err="1"/>
              <a:t>StuGrade</a:t>
            </a:r>
            <a:r>
              <a:rPr lang="en-US" dirty="0"/>
              <a:t> v1.0) Your current technology addresses the 3rd party issues using a centralized digital platform. Role-Based Access: Teachers (management) will have a dual-mode: a. Access - As an admin to manage grades from a centralized storage location. b. View Only - As a student using a dual mode to view grades and receive email notifications of updates. Automated Analytics: Using JavaScript logic to automatically calculate specific totals (e.g., count of Grade A) and average grades for a class immediately. Responsive User Interface/User Experience: Using Tailwind for a modern, dark-themed dashboard that is accessible across devices. </a:t>
            </a:r>
            <a:endParaRPr lang="en-US" dirty="0" smtClean="0"/>
          </a:p>
          <a:p>
            <a:pPr marL="457200" lvl="1" indent="-339725" algn="just"/>
            <a:r>
              <a:rPr lang="en-US" dirty="0" smtClean="0"/>
              <a:t>3</a:t>
            </a:r>
            <a:r>
              <a:rPr lang="en-US" dirty="0"/>
              <a:t>. System Implementation Client Side - HTML5/CSS3/Tailwind will create a high-performance single-page user interface. Logic - Server-side Event-Driven JavaScript code to manage State and Filter Data. Security - Password protected "Teacher Mode" serves as Gateway to Access Data. Data - Electron/Data SDK used for Student and Grade Record Persistence.</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2" name="Content Placeholder 1"/>
          <p:cNvSpPr>
            <a:spLocks noGrp="1" noChangeArrowheads="1"/>
          </p:cNvSpPr>
          <p:nvPr>
            <p:ph idx="1"/>
          </p:nvPr>
        </p:nvSpPr>
        <p:spPr bwMode="auto">
          <a:xfrm>
            <a:off x="1024129" y="1639889"/>
            <a:ext cx="8991140" cy="383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en-US" sz="2400" b="1" dirty="0" smtClean="0"/>
              <a:t>System Concept &amp; Objectives:</a:t>
            </a:r>
            <a:endParaRPr lang="en-US" sz="2400" b="1" dirty="0"/>
          </a:p>
          <a:p>
            <a:r>
              <a:rPr lang="en-US" b="1" dirty="0" smtClean="0"/>
              <a:t>Automated </a:t>
            </a:r>
            <a:r>
              <a:rPr lang="en-US" b="1" dirty="0"/>
              <a:t>Academic Management:</a:t>
            </a:r>
            <a:r>
              <a:rPr lang="en-US" dirty="0"/>
              <a:t> Replaces manual, error-prone paper or spreadsheet logging with a centralized Java-based application.</a:t>
            </a:r>
          </a:p>
          <a:p>
            <a:r>
              <a:rPr lang="en-US" b="1" dirty="0"/>
              <a:t>Data Integrity:</a:t>
            </a:r>
            <a:r>
              <a:rPr lang="en-US" dirty="0"/>
              <a:t> Implements </a:t>
            </a:r>
            <a:r>
              <a:rPr lang="en-US" b="1" dirty="0"/>
              <a:t>Object-Oriented Programming (OOP)</a:t>
            </a:r>
            <a:r>
              <a:rPr lang="en-US" dirty="0"/>
              <a:t> principles like encapsulation to ensure student data cannot be corrupted or accessed by unauthorized users.</a:t>
            </a:r>
          </a:p>
          <a:p>
            <a:r>
              <a:rPr lang="en-US" b="1" dirty="0"/>
              <a:t>Real-Time Analytics:</a:t>
            </a:r>
            <a:r>
              <a:rPr lang="en-US" dirty="0"/>
              <a:t> Instantly calculates CGPA, subject averages, and class-wide performance metrics upon data entry.</a:t>
            </a:r>
          </a:p>
          <a:p>
            <a:r>
              <a:rPr lang="en-US" b="1" dirty="0"/>
              <a:t>Professional Reporting:</a:t>
            </a:r>
            <a:r>
              <a:rPr lang="en-US" dirty="0"/>
              <a:t> Enables the generation of official, formatted </a:t>
            </a:r>
            <a:r>
              <a:rPr lang="en-US" b="1" dirty="0"/>
              <a:t>PDF reports</a:t>
            </a:r>
            <a:r>
              <a:rPr lang="en-US" dirty="0"/>
              <a:t> and </a:t>
            </a:r>
            <a:r>
              <a:rPr lang="en-US" b="1" dirty="0"/>
              <a:t>CSV exports</a:t>
            </a:r>
            <a:r>
              <a:rPr lang="en-US" dirty="0"/>
              <a:t> for administrative use</a:t>
            </a:r>
            <a:r>
              <a:rPr lang="en-US" dirty="0" smtClean="0"/>
              <a:t>.</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20000">
              <a:schemeClr val="accent1">
                <a:lumMod val="45000"/>
                <a:lumOff val="55000"/>
              </a:schemeClr>
            </a:gs>
            <a:gs pos="41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5" name="Content Placeholder 14"/>
          <p:cNvSpPr>
            <a:spLocks noGrp="1"/>
          </p:cNvSpPr>
          <p:nvPr>
            <p:ph idx="1"/>
          </p:nvPr>
        </p:nvSpPr>
        <p:spPr>
          <a:xfrm>
            <a:off x="1117260" y="1449237"/>
            <a:ext cx="9720073" cy="4023360"/>
          </a:xfrm>
        </p:spPr>
        <p:txBody>
          <a:bodyPr/>
          <a:lstStyle/>
          <a:p>
            <a:r>
              <a:rPr lang="en-US" b="1" dirty="0"/>
              <a:t>Technical Architecture</a:t>
            </a:r>
          </a:p>
          <a:p>
            <a:r>
              <a:rPr lang="en-US" b="1" dirty="0"/>
              <a:t>Language:</a:t>
            </a:r>
            <a:r>
              <a:rPr lang="en-US" dirty="0"/>
              <a:t> Developed using </a:t>
            </a:r>
            <a:r>
              <a:rPr lang="en-US" b="1" dirty="0"/>
              <a:t>Java</a:t>
            </a:r>
            <a:r>
              <a:rPr lang="en-US" dirty="0"/>
              <a:t> (JDK 17+) for platform independence and robust memory management.</a:t>
            </a:r>
          </a:p>
          <a:p>
            <a:r>
              <a:rPr lang="en-US" b="1" dirty="0"/>
              <a:t>Database:</a:t>
            </a:r>
            <a:r>
              <a:rPr lang="en-US" dirty="0"/>
              <a:t> Utilizes </a:t>
            </a:r>
            <a:r>
              <a:rPr lang="en-US" b="1" dirty="0"/>
              <a:t>SQLite</a:t>
            </a:r>
            <a:r>
              <a:rPr lang="en-US" dirty="0"/>
              <a:t> with </a:t>
            </a:r>
            <a:r>
              <a:rPr lang="en-US" b="1" dirty="0"/>
              <a:t>JDBC</a:t>
            </a:r>
            <a:r>
              <a:rPr lang="en-US" dirty="0"/>
              <a:t> for a lightweight, </a:t>
            </a:r>
            <a:r>
              <a:rPr lang="en-US" dirty="0" err="1"/>
              <a:t>serverless</a:t>
            </a:r>
            <a:r>
              <a:rPr lang="en-US" dirty="0"/>
              <a:t>, and persistent storage solution.</a:t>
            </a:r>
          </a:p>
          <a:p>
            <a:r>
              <a:rPr lang="en-US" b="1" dirty="0"/>
              <a:t>Concurrency:</a:t>
            </a:r>
            <a:r>
              <a:rPr lang="en-US" dirty="0"/>
              <a:t> Employs </a:t>
            </a:r>
            <a:r>
              <a:rPr lang="en-US" b="1" dirty="0"/>
              <a:t>Multithreading</a:t>
            </a:r>
            <a:r>
              <a:rPr lang="en-US" dirty="0"/>
              <a:t> to handle heavy background tasks, such as generating batch reports for hundreds of students simultaneously without freezing the UI.</a:t>
            </a:r>
          </a:p>
          <a:p>
            <a:r>
              <a:rPr lang="en-US" b="1" dirty="0"/>
              <a:t>Modular Design:</a:t>
            </a:r>
            <a:r>
              <a:rPr lang="en-US" dirty="0"/>
              <a:t> Separates the User Interface (Swing/JavaFX) from the business logic and database layer for easier maintenance and future scaling.</a:t>
            </a:r>
          </a:p>
          <a:p>
            <a:endParaRPr lang="en-IN" dirty="0"/>
          </a:p>
        </p:txBody>
      </p:sp>
      <p:sp>
        <p:nvSpPr>
          <p:cNvPr id="4" name="Date Placeholder 3"/>
          <p:cNvSpPr>
            <a:spLocks noGrp="1"/>
          </p:cNvSpPr>
          <p:nvPr>
            <p:ph type="dt" sz="half" idx="10"/>
          </p:nvPr>
        </p:nvSpPr>
        <p:spPr/>
        <p:txBody>
          <a:bodyPr/>
          <a:lstStyle/>
          <a:p>
            <a:fld id="{9C5272DB-0103-AF4C-A22D-07421EC406AD}" type="datetime1">
              <a:rPr lang="en-IN" smtClean="0"/>
              <a:pPr/>
              <a:t>09-03-2026</a:t>
            </a:fld>
            <a:endParaRPr lang="en-US"/>
          </a:p>
        </p:txBody>
      </p:sp>
      <p:sp>
        <p:nvSpPr>
          <p:cNvPr id="5" name="Footer Placeholder 4"/>
          <p:cNvSpPr>
            <a:spLocks noGrp="1"/>
          </p:cNvSpPr>
          <p:nvPr>
            <p:ph type="ftr" sz="quarter" idx="11"/>
          </p:nvPr>
        </p:nvSpPr>
        <p:spPr/>
        <p:txBody>
          <a:bodyPr/>
          <a:lstStyle/>
          <a:p>
            <a:r>
              <a:rPr lang="en-US" smtClean="0"/>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pPr/>
              <a:t>7</a:t>
            </a:fld>
            <a:endParaRPr lang="en-US"/>
          </a:p>
        </p:txBody>
      </p:sp>
    </p:spTree>
    <p:extLst>
      <p:ext uri="{BB962C8B-B14F-4D97-AF65-F5344CB8AC3E}">
        <p14:creationId xmlns:p14="http://schemas.microsoft.com/office/powerpoint/2010/main" val="38550885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a:xfrm>
            <a:off x="1024128" y="1431985"/>
            <a:ext cx="9720073" cy="4877375"/>
          </a:xfrm>
        </p:spPr>
        <p:txBody>
          <a:bodyPr>
            <a:normAutofit lnSpcReduction="10000"/>
          </a:bodyPr>
          <a:lstStyle/>
          <a:p>
            <a:r>
              <a:rPr lang="en-US" dirty="0"/>
              <a:t>To fit your specific </a:t>
            </a:r>
            <a:r>
              <a:rPr lang="en-US" b="1" dirty="0"/>
              <a:t>Student Grade Tracking and Reporting Tool</a:t>
            </a:r>
            <a:r>
              <a:rPr lang="en-US" dirty="0"/>
              <a:t>, here is the </a:t>
            </a:r>
            <a:r>
              <a:rPr lang="en-US" b="1" dirty="0"/>
              <a:t>System Architecture</a:t>
            </a:r>
            <a:r>
              <a:rPr lang="en-US" dirty="0"/>
              <a:t> broken down into bullet points, designed to show a professional flow from the user to the database:</a:t>
            </a:r>
          </a:p>
          <a:p>
            <a:r>
              <a:rPr lang="en-US" b="1" dirty="0"/>
              <a:t>High-Level System </a:t>
            </a:r>
            <a:r>
              <a:rPr lang="en-US" b="1" dirty="0" smtClean="0"/>
              <a:t>Architecture:-</a:t>
            </a:r>
            <a:endParaRPr lang="en-US" b="1" dirty="0"/>
          </a:p>
          <a:p>
            <a:r>
              <a:rPr lang="en-US" b="1" dirty="0"/>
              <a:t>Presentation Layer (Frontend):</a:t>
            </a:r>
            <a:endParaRPr lang="en-US" dirty="0"/>
          </a:p>
          <a:p>
            <a:pPr lvl="1"/>
            <a:r>
              <a:rPr lang="en-US" dirty="0"/>
              <a:t>Developed using </a:t>
            </a:r>
            <a:r>
              <a:rPr lang="en-US" b="1" dirty="0"/>
              <a:t>Java Swing</a:t>
            </a:r>
            <a:r>
              <a:rPr lang="en-US" dirty="0"/>
              <a:t> or </a:t>
            </a:r>
            <a:r>
              <a:rPr lang="en-US" b="1" dirty="0"/>
              <a:t>JavaFX</a:t>
            </a:r>
            <a:r>
              <a:rPr lang="en-US" dirty="0"/>
              <a:t> for a desktop-based Graphical User Interface (GUI).</a:t>
            </a:r>
          </a:p>
          <a:p>
            <a:pPr lvl="1"/>
            <a:r>
              <a:rPr lang="en-US" dirty="0"/>
              <a:t>Features a </a:t>
            </a:r>
            <a:r>
              <a:rPr lang="en-US" b="1" dirty="0"/>
              <a:t>Dashboard</a:t>
            </a:r>
            <a:r>
              <a:rPr lang="en-US" dirty="0"/>
              <a:t> for data entry, grade viewing, and report triggering.</a:t>
            </a:r>
          </a:p>
          <a:p>
            <a:pPr lvl="1"/>
            <a:r>
              <a:rPr lang="en-US" dirty="0"/>
              <a:t>Includes a </a:t>
            </a:r>
            <a:r>
              <a:rPr lang="en-US" b="1" dirty="0"/>
              <a:t>Login Module</a:t>
            </a:r>
            <a:r>
              <a:rPr lang="en-US" dirty="0"/>
              <a:t> for secure administrator and teacher authentication.</a:t>
            </a:r>
          </a:p>
          <a:p>
            <a:r>
              <a:rPr lang="en-US" b="1" dirty="0"/>
              <a:t>Application Logic Layer (Middleware):</a:t>
            </a:r>
            <a:endParaRPr lang="en-US" dirty="0"/>
          </a:p>
          <a:p>
            <a:pPr lvl="1"/>
            <a:r>
              <a:rPr lang="en-US" dirty="0"/>
              <a:t>Built on </a:t>
            </a:r>
            <a:r>
              <a:rPr lang="en-US" b="1" dirty="0"/>
              <a:t>Core Java</a:t>
            </a:r>
            <a:r>
              <a:rPr lang="en-US" dirty="0"/>
              <a:t> using Object-Oriented Programming (OOP) principles.</a:t>
            </a:r>
          </a:p>
          <a:p>
            <a:pPr lvl="1"/>
            <a:r>
              <a:rPr lang="en-US" b="1" dirty="0"/>
              <a:t>Student Manager:</a:t>
            </a:r>
            <a:r>
              <a:rPr lang="en-US" dirty="0"/>
              <a:t> Handles the creation, updating, and deletion of student profiles.</a:t>
            </a:r>
          </a:p>
          <a:p>
            <a:pPr lvl="1"/>
            <a:r>
              <a:rPr lang="en-US" b="1" dirty="0"/>
              <a:t>Analytics Engine:</a:t>
            </a:r>
            <a:r>
              <a:rPr lang="en-US" dirty="0"/>
              <a:t> Performs real-time calculations for averages, CGPA, and pass/fail logic.</a:t>
            </a:r>
          </a:p>
          <a:p>
            <a:pPr lvl="1"/>
            <a:r>
              <a:rPr lang="en-US" b="1" dirty="0"/>
              <a:t>Threshold Alert System:</a:t>
            </a:r>
            <a:r>
              <a:rPr lang="en-US" dirty="0"/>
              <a:t> Monitors grades and automatically flags students falling below 60%.</a:t>
            </a:r>
          </a:p>
          <a:p>
            <a:pPr lvl="1"/>
            <a:r>
              <a:rPr lang="en-US" b="1" dirty="0"/>
              <a:t>Export Service:</a:t>
            </a:r>
            <a:r>
              <a:rPr lang="en-US" dirty="0"/>
              <a:t> Manages background tasks for generating </a:t>
            </a:r>
            <a:r>
              <a:rPr lang="en-US" b="1" dirty="0"/>
              <a:t>PDFs (</a:t>
            </a:r>
            <a:r>
              <a:rPr lang="en-US" b="1" dirty="0" err="1"/>
              <a:t>iText</a:t>
            </a:r>
            <a:r>
              <a:rPr lang="en-US" b="1" dirty="0"/>
              <a:t>)</a:t>
            </a:r>
            <a:r>
              <a:rPr lang="en-US" dirty="0"/>
              <a:t> and </a:t>
            </a:r>
            <a:r>
              <a:rPr lang="en-US" b="1" dirty="0"/>
              <a:t>CSVs</a:t>
            </a:r>
            <a:r>
              <a:rPr lang="en-US" dirty="0"/>
              <a:t> using Multithreading.</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34890111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1180618" y="1970239"/>
            <a:ext cx="9720073" cy="4023360"/>
          </a:xfrm>
        </p:spPr>
        <p:txBody>
          <a:bodyPr>
            <a:normAutofit fontScale="92500" lnSpcReduction="20000"/>
          </a:bodyPr>
          <a:lstStyle/>
          <a:p>
            <a:r>
              <a:rPr lang="en-US" sz="2600" b="1" dirty="0"/>
              <a:t>Core Project Modules</a:t>
            </a:r>
          </a:p>
          <a:p>
            <a:r>
              <a:rPr lang="en-US" b="1" dirty="0"/>
              <a:t>User Authentication Module:</a:t>
            </a:r>
            <a:r>
              <a:rPr lang="en-US" dirty="0"/>
              <a:t> Secure login system for Admins and Teachers to protect student data.</a:t>
            </a:r>
          </a:p>
          <a:p>
            <a:r>
              <a:rPr lang="en-US" b="1" dirty="0"/>
              <a:t>Student Management Module:</a:t>
            </a:r>
            <a:r>
              <a:rPr lang="en-US" dirty="0"/>
              <a:t> Tools to add, update, search, and delete student profiles from the system.</a:t>
            </a:r>
          </a:p>
          <a:p>
            <a:r>
              <a:rPr lang="en-US" b="1" dirty="0"/>
              <a:t>Grade Entry &amp; Calculation Module:</a:t>
            </a:r>
            <a:r>
              <a:rPr lang="en-US" dirty="0"/>
              <a:t> Automated logging of subject marks with instant CGPA and average calculations.</a:t>
            </a:r>
          </a:p>
          <a:p>
            <a:r>
              <a:rPr lang="en-US" b="1" dirty="0"/>
              <a:t>Analytics &amp; Alert Module:</a:t>
            </a:r>
            <a:r>
              <a:rPr lang="en-US" dirty="0"/>
              <a:t> Real-time monitoring that flags students falling below a 60% performance threshold.</a:t>
            </a:r>
          </a:p>
          <a:p>
            <a:r>
              <a:rPr lang="en-US" b="1" dirty="0"/>
              <a:t>Database Persistence Module:</a:t>
            </a:r>
            <a:r>
              <a:rPr lang="en-US" dirty="0"/>
              <a:t> Uses </a:t>
            </a:r>
            <a:r>
              <a:rPr lang="en-US" b="1" dirty="0"/>
              <a:t>JDBC</a:t>
            </a:r>
            <a:r>
              <a:rPr lang="en-US" dirty="0"/>
              <a:t> and </a:t>
            </a:r>
            <a:r>
              <a:rPr lang="en-US" b="1" dirty="0"/>
              <a:t>SQLite</a:t>
            </a:r>
            <a:r>
              <a:rPr lang="en-US" dirty="0"/>
              <a:t> to ensure data is saved permanently across application restarts.</a:t>
            </a:r>
          </a:p>
          <a:p>
            <a:r>
              <a:rPr lang="en-US" b="1" dirty="0"/>
              <a:t>Reporting &amp; Export Module:</a:t>
            </a:r>
            <a:r>
              <a:rPr lang="en-US" dirty="0"/>
              <a:t> Generates professional </a:t>
            </a:r>
            <a:r>
              <a:rPr lang="en-US" b="1" dirty="0"/>
              <a:t>PDF reports</a:t>
            </a:r>
            <a:r>
              <a:rPr lang="en-US" dirty="0"/>
              <a:t> (via </a:t>
            </a:r>
            <a:r>
              <a:rPr lang="en-US" dirty="0" err="1"/>
              <a:t>iText</a:t>
            </a:r>
            <a:r>
              <a:rPr lang="en-US" dirty="0"/>
              <a:t>) and </a:t>
            </a:r>
            <a:r>
              <a:rPr lang="en-US" b="1" dirty="0"/>
              <a:t>CSV sheets</a:t>
            </a:r>
            <a:r>
              <a:rPr lang="en-US" dirty="0"/>
              <a:t> using background multithreading.</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40729656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70930"/>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2" name="Content Placeholder 1"/>
          <p:cNvSpPr>
            <a:spLocks noGrp="1" noChangeArrowheads="1"/>
          </p:cNvSpPr>
          <p:nvPr>
            <p:ph idx="1"/>
          </p:nvPr>
        </p:nvSpPr>
        <p:spPr bwMode="auto">
          <a:xfrm>
            <a:off x="791215" y="1480922"/>
            <a:ext cx="1150142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Automate Grade Calculations:</a:t>
            </a:r>
            <a:r>
              <a:rPr kumimoji="0" lang="en-US" altLang="en-US" sz="2000" b="0" i="0" u="none" strike="noStrike" cap="none" normalizeH="0" baseline="0" dirty="0" smtClean="0">
                <a:ln>
                  <a:noFill/>
                </a:ln>
                <a:solidFill>
                  <a:schemeClr val="tx1"/>
                </a:solidFill>
                <a:effectLst/>
                <a:latin typeface="Arial" panose="020B0604020202020204" pitchFamily="34" charset="0"/>
              </a:rPr>
              <a:t> Eliminate manual errors by instantly computing CGPA and subject averages.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Ensure Data Persistence:</a:t>
            </a:r>
            <a:r>
              <a:rPr kumimoji="0" lang="en-US" altLang="en-US" sz="2000" b="0" i="0" u="none" strike="noStrike" cap="none" normalizeH="0" baseline="0" dirty="0" smtClean="0">
                <a:ln>
                  <a:noFill/>
                </a:ln>
                <a:solidFill>
                  <a:schemeClr val="tx1"/>
                </a:solidFill>
                <a:effectLst/>
                <a:latin typeface="Arial" panose="020B0604020202020204" pitchFamily="34" charset="0"/>
              </a:rPr>
              <a:t> Use </a:t>
            </a:r>
            <a:r>
              <a:rPr kumimoji="0" lang="en-US" altLang="en-US" sz="2000" b="1" i="0" u="none" strike="noStrike" cap="none" normalizeH="0" baseline="0" dirty="0" smtClean="0">
                <a:ln>
                  <a:noFill/>
                </a:ln>
                <a:solidFill>
                  <a:schemeClr val="tx1"/>
                </a:solidFill>
                <a:effectLst/>
                <a:latin typeface="Arial" panose="020B0604020202020204" pitchFamily="34" charset="0"/>
              </a:rPr>
              <a:t>SQLite</a:t>
            </a:r>
            <a:r>
              <a:rPr kumimoji="0" lang="en-US" altLang="en-US" sz="2000" b="0" i="0" u="none" strike="noStrike" cap="none" normalizeH="0" baseline="0" dirty="0" smtClean="0">
                <a:ln>
                  <a:noFill/>
                </a:ln>
                <a:solidFill>
                  <a:schemeClr val="tx1"/>
                </a:solidFill>
                <a:effectLst/>
                <a:latin typeface="Arial" panose="020B0604020202020204" pitchFamily="34" charset="0"/>
              </a:rPr>
              <a:t> and </a:t>
            </a:r>
            <a:r>
              <a:rPr kumimoji="0" lang="en-US" altLang="en-US" sz="2000" b="1" i="0" u="none" strike="noStrike" cap="none" normalizeH="0" baseline="0" dirty="0" smtClean="0">
                <a:ln>
                  <a:noFill/>
                </a:ln>
                <a:solidFill>
                  <a:schemeClr val="tx1"/>
                </a:solidFill>
                <a:effectLst/>
                <a:latin typeface="Arial" panose="020B0604020202020204" pitchFamily="34" charset="0"/>
              </a:rPr>
              <a:t>JDBC</a:t>
            </a:r>
            <a:r>
              <a:rPr kumimoji="0" lang="en-US" altLang="en-US" sz="2000" b="0" i="0" u="none" strike="noStrike" cap="none" normalizeH="0" baseline="0" dirty="0" smtClean="0">
                <a:ln>
                  <a:noFill/>
                </a:ln>
                <a:solidFill>
                  <a:schemeClr val="tx1"/>
                </a:solidFill>
                <a:effectLst/>
                <a:latin typeface="Arial" panose="020B0604020202020204" pitchFamily="34" charset="0"/>
              </a:rPr>
              <a:t> to store student records permanently across sessions.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Enhance Academic Monitoring:</a:t>
            </a:r>
            <a:r>
              <a:rPr kumimoji="0" lang="en-US" altLang="en-US" sz="2000" b="0" i="0" u="none" strike="noStrike" cap="none" normalizeH="0" baseline="0" dirty="0" smtClean="0">
                <a:ln>
                  <a:noFill/>
                </a:ln>
                <a:solidFill>
                  <a:schemeClr val="tx1"/>
                </a:solidFill>
                <a:effectLst/>
                <a:latin typeface="Arial" panose="020B0604020202020204" pitchFamily="34" charset="0"/>
              </a:rPr>
              <a:t> Implement </a:t>
            </a:r>
            <a:r>
              <a:rPr kumimoji="0" lang="en-US" altLang="en-US" sz="2000" b="1" i="0" u="none" strike="noStrike" cap="none" normalizeH="0" baseline="0" dirty="0" smtClean="0">
                <a:ln>
                  <a:noFill/>
                </a:ln>
                <a:solidFill>
                  <a:schemeClr val="tx1"/>
                </a:solidFill>
                <a:effectLst/>
                <a:latin typeface="Arial" panose="020B0604020202020204" pitchFamily="34" charset="0"/>
              </a:rPr>
              <a:t>Threshold Alerts</a:t>
            </a:r>
            <a:r>
              <a:rPr kumimoji="0" lang="en-US" altLang="en-US" sz="2000" b="0" i="0" u="none" strike="noStrike" cap="none" normalizeH="0" baseline="0" dirty="0" smtClean="0">
                <a:ln>
                  <a:noFill/>
                </a:ln>
                <a:solidFill>
                  <a:schemeClr val="tx1"/>
                </a:solidFill>
                <a:effectLst/>
                <a:latin typeface="Arial" panose="020B0604020202020204" pitchFamily="34" charset="0"/>
              </a:rPr>
              <a:t> to identify and support underperforming students.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Provide Professional Reporting:</a:t>
            </a:r>
            <a:r>
              <a:rPr kumimoji="0" lang="en-US" altLang="en-US" sz="2000" b="0" i="0" u="none" strike="noStrike" cap="none" normalizeH="0" baseline="0" dirty="0" smtClean="0">
                <a:ln>
                  <a:noFill/>
                </a:ln>
                <a:solidFill>
                  <a:schemeClr val="tx1"/>
                </a:solidFill>
                <a:effectLst/>
                <a:latin typeface="Arial" panose="020B0604020202020204" pitchFamily="34" charset="0"/>
              </a:rPr>
              <a:t> Generate high-quality </a:t>
            </a:r>
            <a:r>
              <a:rPr kumimoji="0" lang="en-US" altLang="en-US" sz="2000" b="1" i="0" u="none" strike="noStrike" cap="none" normalizeH="0" baseline="0" dirty="0" smtClean="0">
                <a:ln>
                  <a:noFill/>
                </a:ln>
                <a:solidFill>
                  <a:schemeClr val="tx1"/>
                </a:solidFill>
                <a:effectLst/>
                <a:latin typeface="Arial" panose="020B0604020202020204" pitchFamily="34" charset="0"/>
              </a:rPr>
              <a:t>PDF and CSV reports</a:t>
            </a:r>
            <a:r>
              <a:rPr kumimoji="0" lang="en-US" altLang="en-US" sz="2000" b="0" i="0" u="none" strike="noStrike" cap="none" normalizeH="0" baseline="0" dirty="0" smtClean="0">
                <a:ln>
                  <a:noFill/>
                </a:ln>
                <a:solidFill>
                  <a:schemeClr val="tx1"/>
                </a:solidFill>
                <a:effectLst/>
                <a:latin typeface="Arial" panose="020B0604020202020204" pitchFamily="34" charset="0"/>
              </a:rPr>
              <a:t> using the </a:t>
            </a:r>
            <a:r>
              <a:rPr kumimoji="0" lang="en-US" altLang="en-US" sz="2000" b="0" i="0" u="none" strike="noStrike" cap="none" normalizeH="0" baseline="0" dirty="0" err="1" smtClean="0">
                <a:ln>
                  <a:noFill/>
                </a:ln>
                <a:solidFill>
                  <a:schemeClr val="tx1"/>
                </a:solidFill>
                <a:effectLst/>
                <a:latin typeface="Arial" panose="020B0604020202020204" pitchFamily="34" charset="0"/>
              </a:rPr>
              <a:t>iText</a:t>
            </a:r>
            <a:r>
              <a:rPr kumimoji="0" lang="en-US" altLang="en-US" sz="2000" b="0" i="0" u="none" strike="noStrike" cap="none" normalizeH="0" baseline="0" dirty="0" smtClean="0">
                <a:ln>
                  <a:noFill/>
                </a:ln>
                <a:solidFill>
                  <a:schemeClr val="tx1"/>
                </a:solidFill>
                <a:effectLst/>
                <a:latin typeface="Arial" panose="020B0604020202020204" pitchFamily="34" charset="0"/>
              </a:rPr>
              <a:t> library.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Secure Student Records:</a:t>
            </a:r>
            <a:r>
              <a:rPr kumimoji="0" lang="en-US" altLang="en-US" sz="2000" b="0" i="0" u="none" strike="noStrike" cap="none" normalizeH="0" baseline="0" dirty="0" smtClean="0">
                <a:ln>
                  <a:noFill/>
                </a:ln>
                <a:solidFill>
                  <a:schemeClr val="tx1"/>
                </a:solidFill>
                <a:effectLst/>
                <a:latin typeface="Arial" panose="020B0604020202020204" pitchFamily="34" charset="0"/>
              </a:rPr>
              <a:t> Protect sensitive data through a robust </a:t>
            </a:r>
            <a:r>
              <a:rPr kumimoji="0" lang="en-US" altLang="en-US" sz="2000" b="1" i="0" u="none" strike="noStrike" cap="none" normalizeH="0" baseline="0" dirty="0" smtClean="0">
                <a:ln>
                  <a:noFill/>
                </a:ln>
                <a:solidFill>
                  <a:schemeClr val="tx1"/>
                </a:solidFill>
                <a:effectLst/>
                <a:latin typeface="Arial" panose="020B0604020202020204" pitchFamily="34" charset="0"/>
              </a:rPr>
              <a:t>User Authentication</a:t>
            </a:r>
            <a:r>
              <a:rPr kumimoji="0" lang="en-US" altLang="en-US" sz="2000" b="0" i="0" u="none" strike="noStrike" cap="none" normalizeH="0" baseline="0" dirty="0" smtClean="0">
                <a:ln>
                  <a:noFill/>
                </a:ln>
                <a:solidFill>
                  <a:schemeClr val="tx1"/>
                </a:solidFill>
                <a:effectLst/>
                <a:latin typeface="Arial" panose="020B0604020202020204" pitchFamily="34" charset="0"/>
              </a:rPr>
              <a:t>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Optimize System Performance:</a:t>
            </a:r>
            <a:r>
              <a:rPr kumimoji="0" lang="en-US" altLang="en-US" sz="2000" b="0" i="0" u="none" strike="noStrike" cap="none" normalizeH="0" baseline="0" dirty="0" smtClean="0">
                <a:ln>
                  <a:noFill/>
                </a:ln>
                <a:solidFill>
                  <a:schemeClr val="tx1"/>
                </a:solidFill>
                <a:effectLst/>
                <a:latin typeface="Arial" panose="020B0604020202020204" pitchFamily="34" charset="0"/>
              </a:rPr>
              <a:t> Utilize </a:t>
            </a:r>
            <a:r>
              <a:rPr kumimoji="0" lang="en-US" altLang="en-US" sz="2000" b="1" i="0" u="none" strike="noStrike" cap="none" normalizeH="0" baseline="0" dirty="0" smtClean="0">
                <a:ln>
                  <a:noFill/>
                </a:ln>
                <a:solidFill>
                  <a:schemeClr val="tx1"/>
                </a:solidFill>
                <a:effectLst/>
                <a:latin typeface="Arial" panose="020B0604020202020204" pitchFamily="34" charset="0"/>
              </a:rPr>
              <a:t>Multithreading</a:t>
            </a:r>
            <a:r>
              <a:rPr kumimoji="0" lang="en-US" altLang="en-US" sz="2000" b="0" i="0" u="none" strike="noStrike" cap="none" normalizeH="0" baseline="0" dirty="0" smtClean="0">
                <a:ln>
                  <a:noFill/>
                </a:ln>
                <a:solidFill>
                  <a:schemeClr val="tx1"/>
                </a:solidFill>
                <a:effectLst/>
                <a:latin typeface="Arial" panose="020B0604020202020204" pitchFamily="34" charset="0"/>
              </a:rPr>
              <a:t> and </a:t>
            </a:r>
            <a:r>
              <a:rPr kumimoji="0" lang="en-US" altLang="en-US" sz="2000" b="1" i="0" u="none" strike="noStrike" cap="none" normalizeH="0" baseline="0" dirty="0" smtClean="0">
                <a:ln>
                  <a:noFill/>
                </a:ln>
                <a:solidFill>
                  <a:schemeClr val="tx1"/>
                </a:solidFill>
                <a:effectLst/>
                <a:latin typeface="Arial" panose="020B0604020202020204" pitchFamily="34" charset="0"/>
              </a:rPr>
              <a:t>Java Collections</a:t>
            </a:r>
            <a:r>
              <a:rPr kumimoji="0" lang="en-US" altLang="en-US" sz="2000" b="0" i="0" u="none" strike="noStrike" cap="none" normalizeH="0" baseline="0" dirty="0" smtClean="0">
                <a:ln>
                  <a:noFill/>
                </a:ln>
                <a:solidFill>
                  <a:schemeClr val="tx1"/>
                </a:solidFill>
                <a:effectLst/>
                <a:latin typeface="Arial" panose="020B0604020202020204" pitchFamily="34" charset="0"/>
              </a:rPr>
              <a:t> for high-speed data processing.</a:t>
            </a:r>
          </a:p>
        </p:txBody>
      </p:sp>
    </p:spTree>
    <p:extLst>
      <p:ext uri="{BB962C8B-B14F-4D97-AF65-F5344CB8AC3E}">
        <p14:creationId xmlns:p14="http://schemas.microsoft.com/office/powerpoint/2010/main" val="12639859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1024128" y="1268083"/>
            <a:ext cx="9720073" cy="4023360"/>
          </a:xfrm>
        </p:spPr>
        <p:txBody>
          <a:bodyPr>
            <a:noAutofit/>
          </a:bodyPr>
          <a:lstStyle/>
          <a:p>
            <a:pPr marL="971550" lvl="1" indent="-514350">
              <a:buFont typeface="+mj-lt"/>
              <a:buAutoNum type="arabicPeriod"/>
            </a:pPr>
            <a:r>
              <a:rPr lang="en-IN" sz="1600" b="1" dirty="0"/>
              <a:t>Co1</a:t>
            </a:r>
            <a:r>
              <a:rPr lang="en-US" altLang="en-IN" sz="1600" dirty="0"/>
              <a:t>:</a:t>
            </a:r>
            <a:r>
              <a:rPr lang="en-US" altLang="en-US" sz="1600" dirty="0"/>
              <a:t>Internet Fundamentals, HTML &amp; Introductory CSS Styling Internet &amp; Web Concepts: Internet fundamentals, HTTP/HTTPS protocols, Web client-server architecture, Browser basics, Web hosting and domain concepts, HTML Document Structure &amp; Content: HTML document structure, Headings, Paragraphs, Links. Introductory CSS Styling: CSS syntax, Core selectors, , Color representations, Foundational spacing (padding, margin, </a:t>
            </a:r>
            <a:r>
              <a:rPr lang="en-US" altLang="en-US" sz="1600" dirty="0" smtClean="0"/>
              <a:t>border.</a:t>
            </a:r>
          </a:p>
          <a:p>
            <a:pPr marL="0" indent="0">
              <a:buNone/>
            </a:pPr>
            <a:r>
              <a:rPr lang="en-US" sz="1600" dirty="0" smtClean="0"/>
              <a:t>  </a:t>
            </a:r>
            <a:r>
              <a:rPr lang="en-US" altLang="en-US" sz="1600" b="1" dirty="0"/>
              <a:t>Course Outcome 2</a:t>
            </a:r>
            <a:r>
              <a:rPr lang="en-US" altLang="en-US" sz="1600" dirty="0"/>
              <a:t>: HTML Forms, Semantic Tags &amp; Comprehensive CSS Layouts Forms &amp; I Form elements,  Input types, Forms validation.  T. Comprehensive CSS Layouts &amp; Styling: Advanced selectors, Typography, Flexbox, CSS Grid, Block layout, Media queries, CSS transitions, CSS animations, CSS functions, CSS custom properties, Bootstrap CSS utilities, SCSS basics, Theme management using CSS custom properties, Responsive layouts without frameworks, Styling for interactivity, </a:t>
            </a:r>
          </a:p>
          <a:p>
            <a:pPr marL="0" indent="0">
              <a:buNone/>
            </a:pPr>
            <a:r>
              <a:rPr lang="en-US" altLang="en-US" sz="1600" b="1" dirty="0" smtClean="0"/>
              <a:t>Course </a:t>
            </a:r>
            <a:r>
              <a:rPr lang="en-US" altLang="en-US" sz="1600" b="1" dirty="0"/>
              <a:t>Outcome 3</a:t>
            </a:r>
            <a:r>
              <a:rPr lang="en-US" altLang="en-US" sz="1600" dirty="0"/>
              <a:t>: JavaScript Programming Essentials JavaScript Fundamentals: Basic expressions and operators, Conditions, Loops, Functions, Arrow functions, Callback functions. Objects &amp; Arrays: Objects, Object inheritance, Array methods, Number literals: hexadecimal, </a:t>
            </a:r>
            <a:r>
              <a:rPr lang="en-US" altLang="en-US" sz="1600" dirty="0" smtClean="0"/>
              <a:t>scientific</a:t>
            </a:r>
            <a:endParaRPr lang="en-US" altLang="en-US" sz="1600" dirty="0"/>
          </a:p>
          <a:p>
            <a:pPr marL="0" indent="0">
              <a:buNone/>
            </a:pPr>
            <a:r>
              <a:rPr lang="en-US" altLang="en-US" sz="1600" b="1" dirty="0"/>
              <a:t>Course Outcome 4</a:t>
            </a:r>
            <a:r>
              <a:rPr lang="en-US" altLang="en-US" sz="1600" dirty="0"/>
              <a:t>: JavaScript Interactivity, DOM </a:t>
            </a:r>
            <a:r>
              <a:rPr lang="en-US" altLang="en-US" sz="1600" dirty="0" err="1"/>
              <a:t>DOM</a:t>
            </a:r>
            <a:r>
              <a:rPr lang="en-US" altLang="en-US" sz="1600" dirty="0"/>
              <a:t> &amp; Events: Event handling, DOM manipulation, Storage &amp; </a:t>
            </a:r>
            <a:r>
              <a:rPr lang="en-US" altLang="en-US" sz="1600" dirty="0" err="1"/>
              <a:t>Async</a:t>
            </a:r>
            <a:r>
              <a:rPr lang="en-US" altLang="en-US" sz="1600" dirty="0"/>
              <a:t> Programming: Browser storage, Asynchronous programming, Promises</a:t>
            </a:r>
            <a:r>
              <a:rPr lang="en-US" altLang="en-US" sz="1600" dirty="0" smtClean="0"/>
              <a:t>.</a:t>
            </a:r>
            <a:endParaRPr lang="en-US" altLang="en-US" sz="1600" dirty="0"/>
          </a:p>
          <a:p>
            <a:pPr marL="0" indent="0">
              <a:buNone/>
            </a:pPr>
            <a:r>
              <a:rPr lang="en-US" altLang="en-US" sz="1600" b="1" dirty="0"/>
              <a:t>Course Outcome 5</a:t>
            </a:r>
            <a:r>
              <a:rPr lang="en-US" altLang="en-US" sz="1600" dirty="0"/>
              <a:t>: Advanced Web Development &amp; Deployment Exception handling, ES6 modules. Forms &amp; API Integration: Form validation with JavaScript, Handling user input dynamically, API integration.  Implement meta tags for SEO-friendly pages.</a:t>
            </a:r>
            <a:endParaRPr lang="en-US" altLang="en-US" sz="1600"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19069465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1029299" y="1699403"/>
            <a:ext cx="9720073" cy="4023360"/>
          </a:xfrm>
        </p:spPr>
        <p:txBody>
          <a:bodyPr>
            <a:normAutofit lnSpcReduction="10000"/>
          </a:bodyPr>
          <a:lstStyle/>
          <a:p>
            <a:pPr marL="0" indent="0"/>
            <a:r>
              <a:rPr lang="en-US" sz="1800" dirty="0" smtClean="0">
                <a:solidFill>
                  <a:srgbClr val="333333"/>
                </a:solidFill>
                <a:latin typeface="Lato"/>
                <a:ea typeface="Lato"/>
              </a:rPr>
              <a:t> </a:t>
            </a:r>
            <a:r>
              <a:rPr lang="en-US" sz="1800" b="1" dirty="0" smtClean="0">
                <a:solidFill>
                  <a:srgbClr val="333333"/>
                </a:solidFill>
                <a:latin typeface="Lato"/>
                <a:ea typeface="Lato"/>
              </a:rPr>
              <a:t>CO1</a:t>
            </a:r>
            <a:r>
              <a:rPr lang="en-US" sz="1800" dirty="0" smtClean="0">
                <a:solidFill>
                  <a:srgbClr val="333333"/>
                </a:solidFill>
                <a:latin typeface="Lato"/>
                <a:ea typeface="Lato"/>
              </a:rPr>
              <a:t>;Analyze problem statements and reason about algorithmic efficiency using asymptotic notation (Big-O, Ω, Θ), recurrence relations, and empirical measurements of time and space complexity, in order to compare alternative </a:t>
            </a:r>
            <a:r>
              <a:rPr lang="en-US" sz="1800" dirty="0" err="1" smtClean="0">
                <a:solidFill>
                  <a:srgbClr val="333333"/>
                </a:solidFill>
                <a:latin typeface="Lato"/>
                <a:ea typeface="Lato"/>
              </a:rPr>
              <a:t>solutions,Implement</a:t>
            </a:r>
            <a:r>
              <a:rPr lang="en-US" sz="1800" dirty="0" smtClean="0">
                <a:solidFill>
                  <a:srgbClr val="333333"/>
                </a:solidFill>
                <a:latin typeface="Lato"/>
                <a:ea typeface="Lato"/>
              </a:rPr>
              <a:t> and analyze classical searching and sorting algorithms in Java (including linear search, binary search, bubble, selection, insertion, merge, quick), and justify the choice of algorithm for different input characteristics and constraints</a:t>
            </a:r>
          </a:p>
          <a:p>
            <a:pPr marL="0" indent="0"/>
            <a:r>
              <a:rPr lang="en-US" altLang="en-US" sz="1800" dirty="0" smtClean="0">
                <a:solidFill>
                  <a:srgbClr val="333333"/>
                </a:solidFill>
                <a:latin typeface="Lato"/>
                <a:ea typeface="Lato"/>
              </a:rPr>
              <a:t> </a:t>
            </a:r>
            <a:r>
              <a:rPr lang="en-US" altLang="en-US" sz="1800" b="1" dirty="0" smtClean="0">
                <a:solidFill>
                  <a:srgbClr val="333333"/>
                </a:solidFill>
                <a:latin typeface="Lato"/>
                <a:ea typeface="Lato"/>
              </a:rPr>
              <a:t>CO2</a:t>
            </a:r>
            <a:r>
              <a:rPr lang="en-US" altLang="en-US" sz="1800" dirty="0" smtClean="0">
                <a:solidFill>
                  <a:srgbClr val="333333"/>
                </a:solidFill>
                <a:latin typeface="Lato"/>
                <a:ea typeface="Lato"/>
              </a:rPr>
              <a:t>: Design and implement Abstract Data Types (ADTs) using arrays and linked lists (singly, doubly, circular), perform typical operations (insert, delete, search, traverse, reverse, detect cycles), and reason about their trade-offs for different use cases</a:t>
            </a:r>
          </a:p>
          <a:p>
            <a:pPr marL="0" indent="0"/>
            <a:r>
              <a:rPr lang="en-US" sz="1800" dirty="0">
                <a:solidFill>
                  <a:srgbClr val="333333"/>
                </a:solidFill>
                <a:latin typeface="Lato"/>
                <a:ea typeface="Lato"/>
              </a:rPr>
              <a:t/>
            </a:r>
            <a:br>
              <a:rPr lang="en-US" sz="1800" dirty="0">
                <a:solidFill>
                  <a:srgbClr val="333333"/>
                </a:solidFill>
                <a:latin typeface="Lato"/>
                <a:ea typeface="Lato"/>
              </a:rPr>
            </a:br>
            <a:r>
              <a:rPr lang="en-US" sz="1800" dirty="0">
                <a:solidFill>
                  <a:srgbClr val="333333"/>
                </a:solidFill>
                <a:latin typeface="Lato"/>
                <a:ea typeface="Lato"/>
              </a:rPr>
              <a:t> </a:t>
            </a:r>
            <a:r>
              <a:rPr lang="en-US" sz="1800" b="1" dirty="0">
                <a:solidFill>
                  <a:srgbClr val="333333"/>
                </a:solidFill>
                <a:latin typeface="Lato"/>
                <a:ea typeface="Lato"/>
              </a:rPr>
              <a:t>CO3</a:t>
            </a:r>
            <a:r>
              <a:rPr lang="en-US" sz="1800" dirty="0">
                <a:solidFill>
                  <a:srgbClr val="333333"/>
                </a:solidFill>
                <a:latin typeface="Lato"/>
                <a:ea typeface="Lato"/>
              </a:rPr>
              <a:t>;Apply stacks and queues (including circular queues and </a:t>
            </a:r>
            <a:r>
              <a:rPr lang="en-US" sz="1800" dirty="0" err="1">
                <a:solidFill>
                  <a:srgbClr val="333333"/>
                </a:solidFill>
                <a:latin typeface="Lato"/>
                <a:ea typeface="Lato"/>
              </a:rPr>
              <a:t>deques</a:t>
            </a:r>
            <a:r>
              <a:rPr lang="en-US" sz="1800" dirty="0">
                <a:solidFill>
                  <a:srgbClr val="333333"/>
                </a:solidFill>
                <a:latin typeface="Lato"/>
                <a:ea typeface="Lato"/>
              </a:rPr>
              <a:t>) to model real-world workflows , selecting appropriate implementations (array-based or linked) based on performance </a:t>
            </a:r>
            <a:r>
              <a:rPr lang="en-US" sz="1800" dirty="0" err="1">
                <a:solidFill>
                  <a:srgbClr val="333333"/>
                </a:solidFill>
                <a:latin typeface="Lato"/>
                <a:ea typeface="Lato"/>
              </a:rPr>
              <a:t>considerations,Implement</a:t>
            </a:r>
            <a:r>
              <a:rPr lang="en-US" sz="1800" dirty="0">
                <a:solidFill>
                  <a:srgbClr val="333333"/>
                </a:solidFill>
                <a:latin typeface="Lato"/>
                <a:ea typeface="Lato"/>
              </a:rPr>
              <a:t> heaps and priority queues, and use them in scenarios that require prioritized processing , analyzing their performance compared to other linear data structures</a:t>
            </a:r>
            <a:r>
              <a:rPr lang="en-US" sz="1200" dirty="0">
                <a:solidFill>
                  <a:srgbClr val="333333"/>
                </a:solidFill>
                <a:latin typeface="Lato"/>
                <a:ea typeface="Lato"/>
              </a:rPr>
              <a:t>.</a:t>
            </a:r>
          </a:p>
          <a:p>
            <a:pPr marL="0" indent="0"/>
            <a:endParaRPr lang="en-US" altLang="en-US" sz="1800" dirty="0" smtClean="0">
              <a:solidFill>
                <a:srgbClr val="333333"/>
              </a:solidFill>
              <a:latin typeface="Lato"/>
              <a:ea typeface="Lato"/>
            </a:endParaRPr>
          </a:p>
          <a:p>
            <a:pPr marL="0" indent="0"/>
            <a:endParaRPr lang="en-US" altLang="en-US" sz="1800" dirty="0" smtClean="0">
              <a:solidFill>
                <a:srgbClr val="333333"/>
              </a:solidFill>
              <a:latin typeface="Lato"/>
              <a:ea typeface="Lato"/>
            </a:endParaRPr>
          </a:p>
          <a:p>
            <a:pPr marL="0" indent="0"/>
            <a:endParaRPr lang="en-US" altLang="en-US" sz="1800" dirty="0" smtClean="0">
              <a:solidFill>
                <a:srgbClr val="333333"/>
              </a:solidFill>
              <a:latin typeface="Lato"/>
              <a:ea typeface="Lato"/>
            </a:endParaRPr>
          </a:p>
          <a:p>
            <a:pPr marL="0" indent="0"/>
            <a:endParaRPr lang="en-US" altLang="en-US" sz="1800" dirty="0" smtClean="0">
              <a:solidFill>
                <a:srgbClr val="333333"/>
              </a:solidFill>
              <a:latin typeface="Lato"/>
              <a:ea typeface="Lato"/>
            </a:endParaRPr>
          </a:p>
          <a:p>
            <a:pPr marL="0" indent="0">
              <a:buNone/>
            </a:pPr>
            <a:endParaRPr lang="en-US" sz="1800"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3443658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7" name="Picture 6"/>
          <p:cNvPicPr>
            <a:picLocks noChangeAspect="1"/>
          </p:cNvPicPr>
          <p:nvPr/>
        </p:nvPicPr>
        <p:blipFill>
          <a:blip r:embed="rId2"/>
          <a:stretch>
            <a:fillRect/>
          </a:stretch>
        </p:blipFill>
        <p:spPr>
          <a:xfrm>
            <a:off x="181155" y="1883825"/>
            <a:ext cx="5488911" cy="3527222"/>
          </a:xfrm>
          <a:prstGeom prst="rect">
            <a:avLst/>
          </a:prstGeom>
        </p:spPr>
      </p:pic>
      <p:pic>
        <p:nvPicPr>
          <p:cNvPr id="9" name="Picture 8"/>
          <p:cNvPicPr>
            <a:picLocks noChangeAspect="1"/>
          </p:cNvPicPr>
          <p:nvPr/>
        </p:nvPicPr>
        <p:blipFill>
          <a:blip r:embed="rId3"/>
          <a:stretch>
            <a:fillRect/>
          </a:stretch>
        </p:blipFill>
        <p:spPr>
          <a:xfrm>
            <a:off x="6014049" y="3079630"/>
            <a:ext cx="5796951" cy="3045657"/>
          </a:xfrm>
          <a:prstGeom prst="rect">
            <a:avLst/>
          </a:prstGeom>
        </p:spPr>
      </p:pic>
    </p:spTree>
    <p:extLst>
      <p:ext uri="{BB962C8B-B14F-4D97-AF65-F5344CB8AC3E}">
        <p14:creationId xmlns:p14="http://schemas.microsoft.com/office/powerpoint/2010/main" val="34319537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14</a:t>
            </a:fld>
            <a:endParaRPr lang="en-US"/>
          </a:p>
        </p:txBody>
      </p:sp>
      <p:sp>
        <p:nvSpPr>
          <p:cNvPr id="2" name="Content Placeholder 1"/>
          <p:cNvSpPr>
            <a:spLocks noGrp="1" noChangeArrowheads="1"/>
          </p:cNvSpPr>
          <p:nvPr>
            <p:ph idx="1"/>
          </p:nvPr>
        </p:nvSpPr>
        <p:spPr bwMode="auto">
          <a:xfrm>
            <a:off x="1024128" y="1078341"/>
            <a:ext cx="11167872"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Successful Implementation:</a:t>
            </a:r>
            <a:r>
              <a:rPr kumimoji="0" lang="en-US" altLang="en-US" sz="2000" b="0" i="0" u="none" strike="noStrike" cap="none" normalizeH="0" baseline="0" dirty="0" smtClean="0">
                <a:ln>
                  <a:noFill/>
                </a:ln>
                <a:solidFill>
                  <a:schemeClr val="tx1"/>
                </a:solidFill>
                <a:effectLst/>
                <a:latin typeface="Arial" panose="020B0604020202020204" pitchFamily="34" charset="0"/>
              </a:rPr>
              <a:t> Developed a robust, Java-based system that replaces manual, error-prone grade tracking.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Technical Mastery:</a:t>
            </a:r>
            <a:r>
              <a:rPr kumimoji="0" lang="en-US" altLang="en-US" sz="2000" b="0" i="0" u="none" strike="noStrike" cap="none" normalizeH="0" baseline="0" dirty="0" smtClean="0">
                <a:ln>
                  <a:noFill/>
                </a:ln>
                <a:solidFill>
                  <a:schemeClr val="tx1"/>
                </a:solidFill>
                <a:effectLst/>
                <a:latin typeface="Arial" panose="020B0604020202020204" pitchFamily="34" charset="0"/>
              </a:rPr>
              <a:t> Successfully applied </a:t>
            </a:r>
            <a:r>
              <a:rPr kumimoji="0" lang="en-US" altLang="en-US" sz="2000" b="1" i="0" u="none" strike="noStrike" cap="none" normalizeH="0" baseline="0" dirty="0" smtClean="0">
                <a:ln>
                  <a:noFill/>
                </a:ln>
                <a:solidFill>
                  <a:schemeClr val="tx1"/>
                </a:solidFill>
                <a:effectLst/>
                <a:latin typeface="Arial" panose="020B0604020202020204" pitchFamily="34" charset="0"/>
              </a:rPr>
              <a:t>OOP principles</a:t>
            </a:r>
            <a:r>
              <a:rPr kumimoji="0" lang="en-US" altLang="en-US" sz="2000" b="0" i="0" u="none" strike="noStrike" cap="none" normalizeH="0" baseline="0" dirty="0" smtClean="0">
                <a:ln>
                  <a:noFill/>
                </a:ln>
                <a:solidFill>
                  <a:schemeClr val="tx1"/>
                </a:solidFill>
                <a:effectLst/>
                <a:latin typeface="Arial" panose="020B0604020202020204" pitchFamily="34" charset="0"/>
              </a:rPr>
              <a:t> (Inheritance, Polymorphism) and </a:t>
            </a:r>
            <a:r>
              <a:rPr kumimoji="0" lang="en-US" altLang="en-US" sz="2000" b="1" i="0" u="none" strike="noStrike" cap="none" normalizeH="0" baseline="0" dirty="0" smtClean="0">
                <a:ln>
                  <a:noFill/>
                </a:ln>
                <a:solidFill>
                  <a:schemeClr val="tx1"/>
                </a:solidFill>
                <a:effectLst/>
                <a:latin typeface="Arial" panose="020B0604020202020204" pitchFamily="34" charset="0"/>
              </a:rPr>
              <a:t>Multithreading</a:t>
            </a:r>
            <a:r>
              <a:rPr kumimoji="0" lang="en-US" altLang="en-US" sz="2000" b="0" i="0" u="none" strike="noStrike" cap="none" normalizeH="0" baseline="0" dirty="0" smtClean="0">
                <a:ln>
                  <a:noFill/>
                </a:ln>
                <a:solidFill>
                  <a:schemeClr val="tx1"/>
                </a:solidFill>
                <a:effectLst/>
                <a:latin typeface="Arial" panose="020B0604020202020204" pitchFamily="34" charset="0"/>
              </a:rPr>
              <a:t> for high-speed processing.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Data Security:</a:t>
            </a:r>
            <a:r>
              <a:rPr kumimoji="0" lang="en-US" altLang="en-US" sz="2000" b="0" i="0" u="none" strike="noStrike" cap="none" normalizeH="0" baseline="0" dirty="0" smtClean="0">
                <a:ln>
                  <a:noFill/>
                </a:ln>
                <a:solidFill>
                  <a:schemeClr val="tx1"/>
                </a:solidFill>
                <a:effectLst/>
                <a:latin typeface="Arial" panose="020B0604020202020204" pitchFamily="34" charset="0"/>
              </a:rPr>
              <a:t> Ensured data integrity and persistence using a secure </a:t>
            </a:r>
            <a:r>
              <a:rPr kumimoji="0" lang="en-US" altLang="en-US" sz="2000" b="1" i="0" u="none" strike="noStrike" cap="none" normalizeH="0" baseline="0" dirty="0" smtClean="0">
                <a:ln>
                  <a:noFill/>
                </a:ln>
                <a:solidFill>
                  <a:schemeClr val="tx1"/>
                </a:solidFill>
                <a:effectLst/>
                <a:latin typeface="Arial" panose="020B0604020202020204" pitchFamily="34" charset="0"/>
              </a:rPr>
              <a:t>SQLite database</a:t>
            </a:r>
            <a:r>
              <a:rPr kumimoji="0" lang="en-US" altLang="en-US" sz="2000" b="0" i="0" u="none" strike="noStrike" cap="none" normalizeH="0" baseline="0" dirty="0" smtClean="0">
                <a:ln>
                  <a:noFill/>
                </a:ln>
                <a:solidFill>
                  <a:schemeClr val="tx1"/>
                </a:solidFill>
                <a:effectLst/>
                <a:latin typeface="Arial" panose="020B0604020202020204" pitchFamily="34" charset="0"/>
              </a:rPr>
              <a:t> and </a:t>
            </a:r>
            <a:r>
              <a:rPr kumimoji="0" lang="en-US" altLang="en-US" sz="2000" b="1" i="0" u="none" strike="noStrike" cap="none" normalizeH="0" baseline="0" dirty="0" smtClean="0">
                <a:ln>
                  <a:noFill/>
                </a:ln>
                <a:solidFill>
                  <a:schemeClr val="tx1"/>
                </a:solidFill>
                <a:effectLst/>
                <a:latin typeface="Arial" panose="020B0604020202020204" pitchFamily="34" charset="0"/>
              </a:rPr>
              <a:t>JDBC</a:t>
            </a:r>
            <a:r>
              <a:rPr kumimoji="0" lang="en-US" altLang="en-US" sz="2000" b="0" i="0" u="none" strike="noStrike" cap="none" normalizeH="0" baseline="0" dirty="0" smtClean="0">
                <a:ln>
                  <a:noFill/>
                </a:ln>
                <a:solidFill>
                  <a:schemeClr val="tx1"/>
                </a:solidFill>
                <a:effectLst/>
                <a:latin typeface="Arial" panose="020B0604020202020204" pitchFamily="34" charset="0"/>
              </a:rPr>
              <a:t> connectivity.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Actionable Insights:</a:t>
            </a:r>
            <a:r>
              <a:rPr kumimoji="0" lang="en-US" altLang="en-US" sz="2000" b="0" i="0" u="none" strike="noStrike" cap="none" normalizeH="0" baseline="0" dirty="0" smtClean="0">
                <a:ln>
                  <a:noFill/>
                </a:ln>
                <a:solidFill>
                  <a:schemeClr val="tx1"/>
                </a:solidFill>
                <a:effectLst/>
                <a:latin typeface="Arial" panose="020B0604020202020204" pitchFamily="34" charset="0"/>
              </a:rPr>
              <a:t> Empowered educators with </a:t>
            </a:r>
            <a:r>
              <a:rPr kumimoji="0" lang="en-US" altLang="en-US" sz="2000" b="1" i="0" u="none" strike="noStrike" cap="none" normalizeH="0" baseline="0" dirty="0" smtClean="0">
                <a:ln>
                  <a:noFill/>
                </a:ln>
                <a:solidFill>
                  <a:schemeClr val="tx1"/>
                </a:solidFill>
                <a:effectLst/>
                <a:latin typeface="Arial" panose="020B0604020202020204" pitchFamily="34" charset="0"/>
              </a:rPr>
              <a:t>Automated Threshold Alerts</a:t>
            </a:r>
            <a:r>
              <a:rPr kumimoji="0" lang="en-US" altLang="en-US" sz="2000" b="0" i="0" u="none" strike="noStrike" cap="none" normalizeH="0" baseline="0" dirty="0" smtClean="0">
                <a:ln>
                  <a:noFill/>
                </a:ln>
                <a:solidFill>
                  <a:schemeClr val="tx1"/>
                </a:solidFill>
                <a:effectLst/>
                <a:latin typeface="Arial" panose="020B0604020202020204" pitchFamily="34" charset="0"/>
              </a:rPr>
              <a:t> and professional </a:t>
            </a:r>
            <a:r>
              <a:rPr kumimoji="0" lang="en-US" altLang="en-US" sz="2000" b="1" i="0" u="none" strike="noStrike" cap="none" normalizeH="0" baseline="0" dirty="0" smtClean="0">
                <a:ln>
                  <a:noFill/>
                </a:ln>
                <a:solidFill>
                  <a:schemeClr val="tx1"/>
                </a:solidFill>
                <a:effectLst/>
                <a:latin typeface="Arial" panose="020B0604020202020204" pitchFamily="34" charset="0"/>
              </a:rPr>
              <a:t>PDF reporting</a:t>
            </a:r>
            <a:r>
              <a:rPr kumimoji="0" lang="en-US" altLang="en-US" sz="2000" b="0" i="0" u="none" strike="noStrike" cap="none" normalizeH="0" baseline="0" dirty="0" smtClean="0">
                <a:ln>
                  <a:noFill/>
                </a:ln>
                <a:solidFill>
                  <a:schemeClr val="tx1"/>
                </a:solidFill>
                <a:effectLst/>
                <a:latin typeface="Arial" panose="020B0604020202020204" pitchFamily="34" charset="0"/>
              </a:rPr>
              <a:t> via </a:t>
            </a:r>
            <a:r>
              <a:rPr kumimoji="0" lang="en-US" altLang="en-US" sz="2000" b="0" i="0" u="none" strike="noStrike" cap="none" normalizeH="0" baseline="0" dirty="0" err="1" smtClean="0">
                <a:ln>
                  <a:noFill/>
                </a:ln>
                <a:solidFill>
                  <a:schemeClr val="tx1"/>
                </a:solidFill>
                <a:effectLst/>
                <a:latin typeface="Arial" panose="020B0604020202020204" pitchFamily="34" charset="0"/>
              </a:rPr>
              <a:t>iText</a:t>
            </a:r>
            <a:r>
              <a:rPr kumimoji="0" lang="en-US" altLang="en-US" sz="20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Efficiency Gains:</a:t>
            </a:r>
            <a:r>
              <a:rPr kumimoji="0" lang="en-US" altLang="en-US" sz="2000" b="0" i="0" u="none" strike="noStrike" cap="none" normalizeH="0" baseline="0" dirty="0" smtClean="0">
                <a:ln>
                  <a:noFill/>
                </a:ln>
                <a:solidFill>
                  <a:schemeClr val="tx1"/>
                </a:solidFill>
                <a:effectLst/>
                <a:latin typeface="Arial" panose="020B0604020202020204" pitchFamily="34" charset="0"/>
              </a:rPr>
              <a:t> Reduced the time required for administrative record-keeping by over </a:t>
            </a:r>
            <a:r>
              <a:rPr kumimoji="0" lang="en-US" altLang="en-US" sz="2000" b="1" i="0" u="none" strike="noStrike" cap="none" normalizeH="0" baseline="0" dirty="0" smtClean="0">
                <a:ln>
                  <a:noFill/>
                </a:ln>
                <a:solidFill>
                  <a:schemeClr val="tx1"/>
                </a:solidFill>
                <a:effectLst/>
                <a:latin typeface="Arial" panose="020B0604020202020204" pitchFamily="34" charset="0"/>
              </a:rPr>
              <a:t>90%</a:t>
            </a:r>
            <a:r>
              <a:rPr kumimoji="0" lang="en-US" altLang="en-US" sz="2000" b="0" i="0" u="none" strike="noStrike" cap="none" normalizeH="0" baseline="0" dirty="0" smtClean="0">
                <a:ln>
                  <a:noFill/>
                </a:ln>
                <a:solidFill>
                  <a:schemeClr val="tx1"/>
                </a:solidFill>
                <a:effectLst/>
                <a:latin typeface="Arial" panose="020B0604020202020204" pitchFamily="34" charset="0"/>
              </a:rPr>
              <a:t> through automation.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Scalable Foundation:</a:t>
            </a:r>
            <a:r>
              <a:rPr kumimoji="0" lang="en-US" altLang="en-US" sz="2000" b="0" i="0" u="none" strike="noStrike" cap="none" normalizeH="0" baseline="0" dirty="0" smtClean="0">
                <a:ln>
                  <a:noFill/>
                </a:ln>
                <a:solidFill>
                  <a:schemeClr val="tx1"/>
                </a:solidFill>
                <a:effectLst/>
                <a:latin typeface="Arial" panose="020B0604020202020204" pitchFamily="34" charset="0"/>
              </a:rPr>
              <a:t> Built a modular architecture ready for future integration with </a:t>
            </a:r>
            <a:r>
              <a:rPr kumimoji="0" lang="en-US" altLang="en-US" sz="2000" b="1" i="0" u="none" strike="noStrike" cap="none" normalizeH="0" baseline="0" dirty="0" smtClean="0">
                <a:ln>
                  <a:noFill/>
                </a:ln>
                <a:solidFill>
                  <a:schemeClr val="tx1"/>
                </a:solidFill>
                <a:effectLst/>
                <a:latin typeface="Arial" panose="020B0604020202020204" pitchFamily="34" charset="0"/>
              </a:rPr>
              <a:t>Cloud storage</a:t>
            </a:r>
            <a:r>
              <a:rPr kumimoji="0" lang="en-US" altLang="en-US" sz="2000" b="0" i="0" u="none" strike="noStrike" cap="none" normalizeH="0" baseline="0" dirty="0" smtClean="0">
                <a:ln>
                  <a:noFill/>
                </a:ln>
                <a:solidFill>
                  <a:schemeClr val="tx1"/>
                </a:solidFill>
                <a:effectLst/>
                <a:latin typeface="Arial" panose="020B0604020202020204" pitchFamily="34" charset="0"/>
              </a:rPr>
              <a:t> or </a:t>
            </a:r>
            <a:r>
              <a:rPr kumimoji="0" lang="en-US" altLang="en-US" sz="2000" b="1" i="0" u="none" strike="noStrike" cap="none" normalizeH="0" baseline="0" dirty="0" smtClean="0">
                <a:ln>
                  <a:noFill/>
                </a:ln>
                <a:solidFill>
                  <a:schemeClr val="tx1"/>
                </a:solidFill>
                <a:effectLst/>
                <a:latin typeface="Arial" panose="020B0604020202020204" pitchFamily="34" charset="0"/>
              </a:rPr>
              <a:t>Web-based</a:t>
            </a:r>
            <a:r>
              <a:rPr kumimoji="0" lang="en-US" altLang="en-US" sz="2000" b="0" i="0" u="none" strike="noStrike" cap="none" normalizeH="0" baseline="0" dirty="0" smtClean="0">
                <a:ln>
                  <a:noFill/>
                </a:ln>
                <a:solidFill>
                  <a:schemeClr val="tx1"/>
                </a:solidFill>
                <a:effectLst/>
                <a:latin typeface="Arial" panose="020B0604020202020204" pitchFamily="34" charset="0"/>
              </a:rPr>
              <a:t> platforms.</a:t>
            </a:r>
          </a:p>
        </p:txBody>
      </p:sp>
    </p:spTree>
    <p:extLst>
      <p:ext uri="{BB962C8B-B14F-4D97-AF65-F5344CB8AC3E}">
        <p14:creationId xmlns:p14="http://schemas.microsoft.com/office/powerpoint/2010/main" val="28589121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15</a:t>
            </a:fld>
            <a:endParaRPr lang="en-US"/>
          </a:p>
        </p:txBody>
      </p:sp>
      <p:sp>
        <p:nvSpPr>
          <p:cNvPr id="8" name="AutoShape 4" descr="blob:https://web.whatsapp.com/823c19b2-2669-423d-a089-8d310ff9ad05"/>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Content Placeholder 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057400" y="1676400"/>
            <a:ext cx="8197850" cy="4632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4719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56451">
              <a:srgbClr val="B3DBEA"/>
            </a:gs>
            <a:gs pos="5000">
              <a:srgbClr val="C9E5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16</a:t>
            </a:fld>
            <a:endParaRPr lang="en-US"/>
          </a:p>
        </p:txBody>
      </p:sp>
    </p:spTree>
    <p:extLst>
      <p:ext uri="{BB962C8B-B14F-4D97-AF65-F5344CB8AC3E}">
        <p14:creationId xmlns:p14="http://schemas.microsoft.com/office/powerpoint/2010/main" val="4213958207"/>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3837</TotalTime>
  <Words>1904</Words>
  <Application>Microsoft Office PowerPoint</Application>
  <PresentationFormat>Widescreen</PresentationFormat>
  <Paragraphs>165</Paragraphs>
  <Slides>16</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vt:i4>
      </vt:variant>
    </vt:vector>
  </HeadingPairs>
  <TitlesOfParts>
    <vt:vector size="26" baseType="lpstr">
      <vt:lpstr>Arial</vt:lpstr>
      <vt:lpstr>Calibri</vt:lpstr>
      <vt:lpstr>Calibri Light</vt:lpstr>
      <vt:lpstr>Google Sans</vt:lpstr>
      <vt:lpstr>Lato</vt:lpstr>
      <vt:lpstr>Tw Cen MT</vt:lpstr>
      <vt:lpstr>Tw Cen MT Condensed</vt:lpstr>
      <vt:lpstr>Wingdings 3</vt:lpstr>
      <vt:lpstr>Custom Design</vt:lpstr>
      <vt:lpstr>Integral</vt:lpstr>
      <vt:lpstr>INSTRUCTIONS</vt:lpstr>
      <vt:lpstr>Title: Student Grade Tracking and Reporting Tool</vt:lpstr>
      <vt:lpstr>OUTLINE</vt:lpstr>
      <vt:lpstr>Abstract</vt:lpstr>
      <vt:lpstr>Existing System </vt:lpstr>
      <vt:lpstr>Proposed System</vt:lpstr>
      <vt:lpstr>PowerPoint Presentation</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Ajai Manikanta</cp:lastModifiedBy>
  <cp:revision>59</cp:revision>
  <dcterms:created xsi:type="dcterms:W3CDTF">2022-05-20T10:20:31Z</dcterms:created>
  <dcterms:modified xsi:type="dcterms:W3CDTF">2026-03-09T15:35:01Z</dcterms:modified>
</cp:coreProperties>
</file>